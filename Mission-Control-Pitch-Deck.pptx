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43" d="100"/>
          <a:sy n="143" d="100"/>
        </p:scale>
        <p:origin x="1208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849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9B6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577840" y="-457200"/>
            <a:ext cx="4389120" cy="4389120"/>
          </a:xfrm>
          <a:prstGeom prst="ellipse">
            <a:avLst/>
          </a:prstGeom>
          <a:solidFill>
            <a:srgbClr val="9B6D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2560320"/>
            <a:ext cx="2926080" cy="2926080"/>
          </a:xfrm>
          <a:prstGeom prst="ellipse">
            <a:avLst/>
          </a:prstGeom>
          <a:solidFill>
            <a:srgbClr val="2DD4BF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52160" y="1371600"/>
            <a:ext cx="1828800" cy="1828800"/>
          </a:xfrm>
          <a:prstGeom prst="ellipse">
            <a:avLst/>
          </a:prstGeom>
          <a:solidFill>
            <a:srgbClr val="60A5FA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63640" y="548640"/>
            <a:ext cx="2560320" cy="502920"/>
          </a:xfrm>
          <a:prstGeom prst="rect">
            <a:avLst/>
          </a:prstGeom>
          <a:solidFill>
            <a:srgbClr val="131929"/>
          </a:solidFill>
          <a:ln w="12700">
            <a:solidFill>
              <a:srgbClr val="9B6D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63640" y="548640"/>
            <a:ext cx="45720" cy="502920"/>
          </a:xfrm>
          <a:prstGeom prst="rect">
            <a:avLst/>
          </a:prstGeom>
          <a:solidFill>
            <a:srgbClr val="9B6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0" y="6583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Acme Corp  ·  Brief Active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63640" y="1188720"/>
            <a:ext cx="2560320" cy="502920"/>
          </a:xfrm>
          <a:prstGeom prst="rect">
            <a:avLst/>
          </a:prstGeom>
          <a:solidFill>
            <a:srgbClr val="131929"/>
          </a:solidFill>
          <a:ln w="12700">
            <a:solidFill>
              <a:srgbClr val="2DD4B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63640" y="1188720"/>
            <a:ext cx="45720" cy="5029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Blog Series  ·  Running…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63640" y="1828800"/>
            <a:ext cx="2560320" cy="502920"/>
          </a:xfrm>
          <a:prstGeom prst="rect">
            <a:avLst/>
          </a:prstGeom>
          <a:solidFill>
            <a:srgbClr val="131929"/>
          </a:solidFill>
          <a:ln w="12700">
            <a:solidFill>
              <a:srgbClr val="60A5FA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45720" cy="50292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9385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Outputs delivered today  ·  ↑42%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AGENCY PLATFORM  · 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749808"/>
            <a:ext cx="5577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Agency.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Staffed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AI.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11480" y="32004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Control — the operating system for AI-powered agencies.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client intelligence. Automated pipelines. A full team of AI agents.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3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NOT FOR DISTRIBUTION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client agency is still manual, slow, and fragmented.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promised to transform agency work. But agencies are still re-briefing, re-prompting, and rebuilding from scratch every day.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84048" y="1600200"/>
            <a:ext cx="2743200" cy="28803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600200"/>
            <a:ext cx="2743200" cy="54864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73736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66928" y="2240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no memory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2679192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ChatGPT session starts blank. You re-brief the AI on every client, every time. Hours wasted. Brand consistency impossible.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10128" y="1600200"/>
            <a:ext cx="2743200" cy="28803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10128" y="1600200"/>
            <a:ext cx="2743200" cy="54864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93008" y="173736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93008" y="2240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workflows — just chat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93008" y="2679192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are one-shot prompting boxes. There's no pipeline from brief to deliverable. You stitch it together manually every time.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6208" y="1600200"/>
            <a:ext cx="2743200" cy="28803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36208" y="1600200"/>
            <a:ext cx="2743200" cy="54864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19088" y="173736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19088" y="2240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still the bottleneck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19088" y="2679192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AI, you write every prompt, manage every task, and chase every output. Nothing runs unless you're at the keyboard.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9B6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"WHY NOT JUST USE AI?" QUESTION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is a powerful tool. Mission Control is an entire team.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AI platforms are general-purpose. Mission Control is purpose-built for agencies — with structure, memory, and automation they can't offer.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84048" y="1627632"/>
            <a:ext cx="3931920" cy="36576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00600" y="1627632"/>
            <a:ext cx="3931920" cy="365760"/>
          </a:xfrm>
          <a:prstGeom prst="rect">
            <a:avLst/>
          </a:prstGeom>
          <a:solidFill>
            <a:srgbClr val="9B6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6459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Gemini / Claude (native)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92040" y="16459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Control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4048" y="2029968"/>
            <a:ext cx="3931920" cy="475488"/>
          </a:xfrm>
          <a:prstGeom prst="rect">
            <a:avLst/>
          </a:prstGeom>
          <a:solidFill>
            <a:srgbClr val="13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2029968"/>
            <a:ext cx="3931920" cy="475488"/>
          </a:xfrm>
          <a:prstGeom prst="rect">
            <a:avLst/>
          </a:prstGeom>
          <a:solidFill>
            <a:srgbClr val="1319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139696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21214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Forgets everything between sessions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13969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39512" y="2121408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client briefs, brand kits &amp; knowledge hubs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84048" y="2523744"/>
            <a:ext cx="3931920" cy="475488"/>
          </a:xfrm>
          <a:prstGeom prst="rect">
            <a:avLst/>
          </a:prstGeom>
          <a:solidFill>
            <a:srgbClr val="1A22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00600" y="2523744"/>
            <a:ext cx="3931920" cy="475488"/>
          </a:xfrm>
          <a:prstGeom prst="rect">
            <a:avLst/>
          </a:prstGeom>
          <a:solidFill>
            <a:srgbClr val="1A22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63347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" y="26151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generic AI doing everything</a:t>
            </a:r>
            <a:endParaRPr lang="en-US" sz="11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3347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39512" y="2615184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specialist agents: Strategist, Writer, SEO…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84048" y="3017520"/>
            <a:ext cx="3931920" cy="475488"/>
          </a:xfrm>
          <a:prstGeom prst="rect">
            <a:avLst/>
          </a:prstGeom>
          <a:solidFill>
            <a:srgbClr val="13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4800600" y="3017520"/>
            <a:ext cx="3931920" cy="475488"/>
          </a:xfrm>
          <a:prstGeom prst="rect">
            <a:avLst/>
          </a:prstGeom>
          <a:solidFill>
            <a:srgbClr val="1319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127248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22960" y="3108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every prompt from scratch</a:t>
            </a:r>
            <a:endParaRPr lang="en-US" sz="11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27248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39512" y="3108960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pipelines — select, run, get the deliverable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384048" y="3511296"/>
            <a:ext cx="3931920" cy="475488"/>
          </a:xfrm>
          <a:prstGeom prst="rect">
            <a:avLst/>
          </a:prstGeom>
          <a:solidFill>
            <a:srgbClr val="1A22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4800600" y="3511296"/>
            <a:ext cx="3931920" cy="475488"/>
          </a:xfrm>
          <a:prstGeom prst="rect">
            <a:avLst/>
          </a:prstGeom>
          <a:solidFill>
            <a:srgbClr val="1A22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621024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22960" y="36027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output tracking or history</a:t>
            </a:r>
            <a:endParaRPr lang="en-US" sz="11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621024"/>
            <a:ext cx="256032" cy="25603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239512" y="3602736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output library — searchable, exportable, reusable</a:t>
            </a:r>
            <a:endParaRPr lang="en-US" sz="1100" dirty="0"/>
          </a:p>
        </p:txBody>
      </p:sp>
      <p:sp>
        <p:nvSpPr>
          <p:cNvPr id="34" name="Shape 24"/>
          <p:cNvSpPr/>
          <p:nvPr/>
        </p:nvSpPr>
        <p:spPr>
          <a:xfrm>
            <a:off x="384048" y="4005072"/>
            <a:ext cx="3931920" cy="475488"/>
          </a:xfrm>
          <a:prstGeom prst="rect">
            <a:avLst/>
          </a:prstGeom>
          <a:solidFill>
            <a:srgbClr val="13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5"/>
          <p:cNvSpPr/>
          <p:nvPr/>
        </p:nvSpPr>
        <p:spPr>
          <a:xfrm>
            <a:off x="4800600" y="4005072"/>
            <a:ext cx="3931920" cy="475488"/>
          </a:xfrm>
          <a:prstGeom prst="rect">
            <a:avLst/>
          </a:prstGeom>
          <a:solidFill>
            <a:srgbClr val="1319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114800"/>
            <a:ext cx="256032" cy="25603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22960" y="40965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MCPs add complexity, not structure</a:t>
            </a:r>
            <a:endParaRPr lang="en-US" sz="11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4114800"/>
            <a:ext cx="256032" cy="256032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5239512" y="409651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agency workflows with built-in automation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Mission Control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agency OS — persistent client intelligence, specialist AI agents, automated pipelines, and full output tracking in one platform.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84048" y="1645920"/>
            <a:ext cx="4160520" cy="1234440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645920"/>
            <a:ext cx="54864" cy="1234440"/>
          </a:xfrm>
          <a:prstGeom prst="rect">
            <a:avLst/>
          </a:prstGeom>
          <a:solidFill>
            <a:srgbClr val="9B6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0352" y="1947672"/>
            <a:ext cx="475488" cy="475488"/>
          </a:xfrm>
          <a:prstGeom prst="ellipse">
            <a:avLst/>
          </a:prstGeom>
          <a:solidFill>
            <a:srgbClr val="9B6D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75104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52144" y="1783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Intelligence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52144" y="213969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has a permanent brain — brief, brand kit, tone of voice, knowledge hub. AI always knows your client deeply.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91456" y="1645920"/>
            <a:ext cx="4160520" cy="1234440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91456" y="1645920"/>
            <a:ext cx="54864" cy="1234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937760" y="1947672"/>
            <a:ext cx="475488" cy="475488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975104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59552" y="1783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Team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559552" y="213969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squad of specialist agents: Creative Director, Strategist, Writer, SEO, Analyst. Each knows their role.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84048" y="3017520"/>
            <a:ext cx="4160520" cy="1234440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84048" y="3017520"/>
            <a:ext cx="54864" cy="123444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30352" y="3319272"/>
            <a:ext cx="475488" cy="475488"/>
          </a:xfrm>
          <a:prstGeom prst="ellipse">
            <a:avLst/>
          </a:prstGeom>
          <a:solidFill>
            <a:srgbClr val="60A5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46704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52144" y="3154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Automation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152144" y="351129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157+ pre-built pipelines. Brief in → polished deliverable out. No prompting, no babysitting, no starting over.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791456" y="3017520"/>
            <a:ext cx="4160520" cy="1234440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791456" y="3017520"/>
            <a:ext cx="54864" cy="123444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937760" y="3319272"/>
            <a:ext cx="475488" cy="475488"/>
          </a:xfrm>
          <a:prstGeom prst="ellipse">
            <a:avLst/>
          </a:pr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346704"/>
            <a:ext cx="420624" cy="4206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59552" y="3154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Analytics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559552" y="351129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tracked, stored, exportable (DOCX/PDF/XLSX). Live analytics and Meta Ads AI optimization built in.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brief to deliverable in four steps.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prompt engineering. No re-briefing. No starting from scratch. Select a pipeline, hit run.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" y="1627632"/>
            <a:ext cx="1965960" cy="2926080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9184" y="1627632"/>
            <a:ext cx="1965960" cy="64008"/>
          </a:xfrm>
          <a:prstGeom prst="rect">
            <a:avLst/>
          </a:prstGeom>
          <a:solidFill>
            <a:srgbClr val="9B6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6112" y="1810512"/>
            <a:ext cx="804672" cy="804672"/>
          </a:xfrm>
          <a:prstGeom prst="ellipse">
            <a:avLst/>
          </a:prstGeom>
          <a:solidFill>
            <a:srgbClr val="9B6D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6112" y="1810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74320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20624" y="336499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Brain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20624" y="3977640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client brief, brand kit, knowledge docs, and tone of voice. It lives there permanently.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295144" y="3017520"/>
            <a:ext cx="164592" cy="27432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478024" y="1627632"/>
            <a:ext cx="1965960" cy="2926080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478024" y="1627632"/>
            <a:ext cx="1965960" cy="6400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044952" y="1810512"/>
            <a:ext cx="804672" cy="804672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044952" y="1810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2743200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69464" y="336499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Agents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2569464" y="3977640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AI agents pick up the task with full client context already loaded.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443984" y="3017520"/>
            <a:ext cx="164592" cy="27432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626864" y="1627632"/>
            <a:ext cx="1965960" cy="2926080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626864" y="1627632"/>
            <a:ext cx="1965960" cy="64008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5193792" y="1810512"/>
            <a:ext cx="804672" cy="804672"/>
          </a:xfrm>
          <a:prstGeom prst="ellipse">
            <a:avLst/>
          </a:prstGeom>
          <a:solidFill>
            <a:srgbClr val="60A5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5193792" y="1810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096" y="2743200"/>
            <a:ext cx="502920" cy="5029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718304" y="336499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4718304" y="3977640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pipeline (blog, ad, report…). It executes automatically — no manual prompting.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592824" y="3017520"/>
            <a:ext cx="164592" cy="27432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6775704" y="1627632"/>
            <a:ext cx="1965960" cy="2926080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6775704" y="1627632"/>
            <a:ext cx="1965960" cy="6400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7342632" y="1810512"/>
            <a:ext cx="804672" cy="804672"/>
          </a:xfrm>
          <a:prstGeom prst="ellipse">
            <a:avLst/>
          </a:prstGeom>
          <a:solidFill>
            <a:srgbClr val="4ADE8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7342632" y="1810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936" y="2743200"/>
            <a:ext cx="502920" cy="50292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867144" y="336499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6867144" y="3977640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output saved, tracked, and ready to export as DOCX, PDF, or XLSX.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agencies doing real client work.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team that manages multiple clients, produces content, and needs AI to actually remember who those clients are.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2743200" cy="2907792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743200" cy="54864"/>
          </a:xfrm>
          <a:prstGeom prst="rect">
            <a:avLst/>
          </a:prstGeom>
          <a:solidFill>
            <a:srgbClr val="9B6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1709928"/>
            <a:ext cx="731520" cy="731520"/>
          </a:xfrm>
          <a:prstGeom prst="ellipse">
            <a:avLst/>
          </a:prstGeom>
          <a:solidFill>
            <a:srgbClr val="9B6D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73736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50545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Content Agencies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29992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2–50 person teams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30352" y="32918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Re-briefing AI on every client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30352" y="354787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Inconsistent output quality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30352" y="380390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Losing hours to admin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2920" y="4096512"/>
            <a:ext cx="2468880" cy="347472"/>
          </a:xfrm>
          <a:prstGeom prst="rect">
            <a:avLst/>
          </a:prstGeom>
          <a:solidFill>
            <a:srgbClr val="9B6D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" y="4114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delivery time by 60%. Every agent knows every client by heart.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91840" y="1572768"/>
            <a:ext cx="2743200" cy="2907792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291840" y="1572768"/>
            <a:ext cx="2743200" cy="5486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297680" y="1709928"/>
            <a:ext cx="731520" cy="73152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737360"/>
            <a:ext cx="640080" cy="6400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29000" y="250545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Running Agencies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429000" y="29992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to 5-person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3456432" y="32918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Wearing too many hats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3456432" y="354787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Can't scale without hiring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456432" y="380390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system for client work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3429000" y="4096512"/>
            <a:ext cx="2468880" cy="347472"/>
          </a:xfrm>
          <a:prstGeom prst="rect">
            <a:avLst/>
          </a:prstGeom>
          <a:solidFill>
            <a:srgbClr val="2DD4B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474720" y="4114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agency team for the cost of one tool subscription.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217920" y="1572768"/>
            <a:ext cx="2743200" cy="2907792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6217920" y="1572768"/>
            <a:ext cx="2743200" cy="54864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7223760" y="1709928"/>
            <a:ext cx="731520" cy="731520"/>
          </a:xfrm>
          <a:prstGeom prst="ellipse">
            <a:avLst/>
          </a:prstGeom>
          <a:solidFill>
            <a:srgbClr val="60A5F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737360"/>
            <a:ext cx="640080" cy="64008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355080" y="250545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Marketing Teams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6355080" y="29992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scale-ups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6382512" y="32918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Disconnected AI tools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6382512" y="354787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brand consistency at scale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6382512" y="380390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Privacy &amp; compliance concerns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6355080" y="4096512"/>
            <a:ext cx="2468880" cy="347472"/>
          </a:xfrm>
          <a:prstGeom prst="rect">
            <a:avLst/>
          </a:prstGeom>
          <a:solidFill>
            <a:srgbClr val="60A5FA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6400800" y="4114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all clients, full compliance, AI that knows your brand.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9B6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 market. Almost none of it automated yet.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spend billions on software — but zero of it is an AI operating system built for their day-to-day operations.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2743200" cy="18288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743200" cy="64008"/>
          </a:xfrm>
          <a:prstGeom prst="rect">
            <a:avLst/>
          </a:prstGeom>
          <a:solidFill>
            <a:srgbClr val="9B6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$400B+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27157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marketing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services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572768"/>
            <a:ext cx="2743200" cy="18288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572768"/>
            <a:ext cx="2743200" cy="6400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1691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9659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$28B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383280" y="27157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&amp; mid-market agencies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SaaS tools today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572768"/>
            <a:ext cx="2743200" cy="18288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1572768"/>
            <a:ext cx="2743200" cy="64008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9360" y="1691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19659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$1.2B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309360" y="27157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agency platforms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in 5 years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8412480" cy="4572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54864" cy="457200"/>
          </a:xfrm>
          <a:prstGeom prst="rect">
            <a:avLst/>
          </a:prstGeom>
          <a:solidFill>
            <a:srgbClr val="9B6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6393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of agency owners say AI will transform their business within 2 years — but 81% have no structured AI workflow today.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069080"/>
            <a:ext cx="8412480" cy="4572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4069080"/>
            <a:ext cx="54864" cy="457200"/>
          </a:xfrm>
          <a:prstGeom prst="rect">
            <a:avLst/>
          </a:prstGeom>
          <a:solidFill>
            <a:srgbClr val="9B6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1422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500,000 marketing agencies globally employ fewer than 50 people. None of them have an AI operating system yet.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SaaS. High retention. Expandable at every tier.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pricing with usage-based add-ons. Low CAC from agencies already searching for an AI workflow solution.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2743200" cy="2907792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743200" cy="64008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$49/mo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&amp; solo agencies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2194560" cy="914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898648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288036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 agents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54680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2960" y="313639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active clients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410712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3392424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pipeline runs/mo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666744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" y="364845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deliverable types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922776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2960" y="390448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3291840" y="1572768"/>
            <a:ext cx="2743200" cy="2907792"/>
          </a:xfrm>
          <a:prstGeom prst="rect">
            <a:avLst/>
          </a:prstGeom>
          <a:solidFill>
            <a:srgbClr val="1A2236"/>
          </a:solidFill>
          <a:ln w="12700">
            <a:solidFill>
              <a:srgbClr val="9B6D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3291840" y="1572768"/>
            <a:ext cx="2743200" cy="64008"/>
          </a:xfrm>
          <a:prstGeom prst="rect">
            <a:avLst/>
          </a:prstGeom>
          <a:solidFill>
            <a:srgbClr val="9B6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4041648" y="1481328"/>
            <a:ext cx="1243584" cy="219456"/>
          </a:xfrm>
          <a:prstGeom prst="rect">
            <a:avLst/>
          </a:prstGeom>
          <a:solidFill>
            <a:srgbClr val="9B6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4041648" y="14904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750" dirty="0"/>
          </a:p>
        </p:txBody>
      </p:sp>
      <p:sp>
        <p:nvSpPr>
          <p:cNvPr id="26" name="Text 19"/>
          <p:cNvSpPr/>
          <p:nvPr/>
        </p:nvSpPr>
        <p:spPr>
          <a:xfrm>
            <a:off x="3383280" y="17099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3383280" y="20665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$199/mo</a:t>
            </a:r>
            <a:endParaRPr lang="en-US" sz="2800" dirty="0"/>
          </a:p>
        </p:txBody>
      </p:sp>
      <p:sp>
        <p:nvSpPr>
          <p:cNvPr id="28" name="Text 21"/>
          <p:cNvSpPr/>
          <p:nvPr/>
        </p:nvSpPr>
        <p:spPr>
          <a:xfrm>
            <a:off x="3383280" y="25603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2–20 person agencies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566160" y="2834640"/>
            <a:ext cx="2194560" cy="914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2898648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749040" y="288036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agents</a:t>
            </a:r>
            <a:endParaRPr lang="en-US" sz="10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3154680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749040" y="313639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active clients</a:t>
            </a:r>
            <a:endParaRPr lang="en-US" sz="10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3410712"/>
            <a:ext cx="182880" cy="18288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3749040" y="3392424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pipelines</a:t>
            </a:r>
            <a:endParaRPr lang="en-US" sz="10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3666744"/>
            <a:ext cx="182880" cy="1828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3749040" y="364845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+ analytics</a:t>
            </a:r>
            <a:endParaRPr lang="en-US" sz="10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3922776"/>
            <a:ext cx="182880" cy="18288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3749040" y="390448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seats (5)</a:t>
            </a:r>
            <a:endParaRPr lang="en-US" sz="100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4178808"/>
            <a:ext cx="182880" cy="18288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3749040" y="41605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000" dirty="0"/>
          </a:p>
        </p:txBody>
      </p:sp>
      <p:sp>
        <p:nvSpPr>
          <p:cNvPr id="42" name="Shape 29"/>
          <p:cNvSpPr/>
          <p:nvPr/>
        </p:nvSpPr>
        <p:spPr>
          <a:xfrm>
            <a:off x="6217920" y="1572768"/>
            <a:ext cx="2743200" cy="2907792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0"/>
          <p:cNvSpPr/>
          <p:nvPr/>
        </p:nvSpPr>
        <p:spPr>
          <a:xfrm>
            <a:off x="6217920" y="1572768"/>
            <a:ext cx="2743200" cy="6400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1"/>
          <p:cNvSpPr/>
          <p:nvPr/>
        </p:nvSpPr>
        <p:spPr>
          <a:xfrm>
            <a:off x="6309360" y="17099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700" dirty="0"/>
          </a:p>
        </p:txBody>
      </p:sp>
      <p:sp>
        <p:nvSpPr>
          <p:cNvPr id="45" name="Text 32"/>
          <p:cNvSpPr/>
          <p:nvPr/>
        </p:nvSpPr>
        <p:spPr>
          <a:xfrm>
            <a:off x="6309360" y="20665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2800" dirty="0"/>
          </a:p>
        </p:txBody>
      </p:sp>
      <p:sp>
        <p:nvSpPr>
          <p:cNvPr id="46" name="Text 33"/>
          <p:cNvSpPr/>
          <p:nvPr/>
        </p:nvSpPr>
        <p:spPr>
          <a:xfrm>
            <a:off x="6309360" y="25603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agencies &amp; platforms</a:t>
            </a:r>
            <a:endParaRPr lang="en-US" sz="950" dirty="0"/>
          </a:p>
        </p:txBody>
      </p:sp>
      <p:sp>
        <p:nvSpPr>
          <p:cNvPr id="47" name="Shape 34"/>
          <p:cNvSpPr/>
          <p:nvPr/>
        </p:nvSpPr>
        <p:spPr>
          <a:xfrm>
            <a:off x="6492240" y="2834640"/>
            <a:ext cx="2194560" cy="914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898648"/>
            <a:ext cx="182880" cy="182880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6675120" y="288036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option</a:t>
            </a:r>
            <a:endParaRPr lang="en-US" sz="1000" dirty="0"/>
          </a:p>
        </p:txBody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154680"/>
            <a:ext cx="182880" cy="182880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6675120" y="313639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everything</a:t>
            </a:r>
            <a:endParaRPr lang="en-US" sz="100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410712"/>
            <a:ext cx="182880" cy="182880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6675120" y="3392424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pipelines</a:t>
            </a:r>
            <a:endParaRPr lang="en-US" sz="100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666744"/>
            <a:ext cx="182880" cy="182880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6675120" y="364845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+ compliance</a:t>
            </a:r>
            <a:endParaRPr lang="en-US" sz="1000" dirty="0"/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922776"/>
            <a:ext cx="182880" cy="182880"/>
          </a:xfrm>
          <a:prstGeom prst="rect">
            <a:avLst/>
          </a:prstGeom>
        </p:spPr>
      </p:pic>
      <p:sp>
        <p:nvSpPr>
          <p:cNvPr id="57" name="Text 39"/>
          <p:cNvSpPr/>
          <p:nvPr/>
        </p:nvSpPr>
        <p:spPr>
          <a:xfrm>
            <a:off x="6675120" y="390448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success mgr</a:t>
            </a:r>
            <a:endParaRPr lang="en-US" sz="1000" dirty="0"/>
          </a:p>
        </p:txBody>
      </p:sp>
      <p:sp>
        <p:nvSpPr>
          <p:cNvPr id="58" name="Text 40"/>
          <p:cNvSpPr/>
          <p:nvPr/>
        </p:nvSpPr>
        <p:spPr>
          <a:xfrm>
            <a:off x="365760" y="46451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Usage-based add-ons: extra AI credits · white-label seats · API access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open — but not for long.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forces are converging to make the AI agency platform the most valuable category in marketing SaaS.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932688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54864" cy="932688"/>
          </a:xfrm>
          <a:prstGeom prst="rect">
            <a:avLst/>
          </a:prstGeom>
          <a:solidFill>
            <a:srgbClr val="9B6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682496"/>
            <a:ext cx="1005840" cy="713232"/>
          </a:xfrm>
          <a:prstGeom prst="rect">
            <a:avLst/>
          </a:prstGeom>
          <a:solidFill>
            <a:srgbClr val="9B6D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682496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45920" y="1664208"/>
            <a:ext cx="6995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in agencies surged 400% in 2 years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645920" y="1984248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are buying AI tools fast — but there's no platform built for agency operations. They're duct-taping ChatGPT and Notion together. Mission Control replaces all of 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596896"/>
            <a:ext cx="8412480" cy="932688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596896"/>
            <a:ext cx="54864" cy="93268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2706624"/>
            <a:ext cx="1005840" cy="713232"/>
          </a:xfrm>
          <a:prstGeom prst="rect">
            <a:avLst/>
          </a:prstGeom>
          <a:solidFill>
            <a:srgbClr val="2DD4B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706624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45920" y="2688336"/>
            <a:ext cx="6995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direct competitors at this intersection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645920" y="3008376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lacks agency structure. Agency tools lack AI intelligence. Mission Control is the first to combine both into a purpose-built OS for client work.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621024"/>
            <a:ext cx="8412480" cy="932688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621024"/>
            <a:ext cx="54864" cy="932688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" y="3730752"/>
            <a:ext cx="1005840" cy="713232"/>
          </a:xfrm>
          <a:prstGeom prst="rect">
            <a:avLst/>
          </a:prstGeom>
          <a:solidFill>
            <a:srgbClr val="60A5FA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730752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45920" y="3712464"/>
            <a:ext cx="6995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is built, deployed, and serving real users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645920" y="4032504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vaporware. Mission Control is live on production infrastructure — multi-tenant, multi-AI, with billing, backups, and privacy compliance already in place.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B6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0" y="274320"/>
            <a:ext cx="4754880" cy="4754880"/>
          </a:xfrm>
          <a:prstGeom prst="ellipse">
            <a:avLst/>
          </a:prstGeom>
          <a:solidFill>
            <a:srgbClr val="9B6D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1828800"/>
            <a:ext cx="4114800" cy="4114800"/>
          </a:xfrm>
          <a:prstGeom prst="ellipse">
            <a:avLst/>
          </a:prstGeom>
          <a:solidFill>
            <a:srgbClr val="2DD4B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68580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Mission.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423160" y="1444752"/>
            <a:ext cx="4297680" cy="896112"/>
          </a:xfrm>
          <a:prstGeom prst="rect">
            <a:avLst/>
          </a:prstGeom>
          <a:solidFill>
            <a:srgbClr val="9B6DFF">
              <a:alpha val="16000"/>
            </a:srgbClr>
          </a:solidFill>
          <a:ln w="12700">
            <a:solidFill>
              <a:srgbClr val="9B6D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23160" y="15270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$500K – $1M Seed Round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23160" y="1920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acquire our first 200 paying agencies and expand the platform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2487168"/>
            <a:ext cx="2423160" cy="1261872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" y="2487168"/>
            <a:ext cx="2423160" cy="54864"/>
          </a:xfrm>
          <a:prstGeom prst="rect">
            <a:avLst/>
          </a:prstGeom>
          <a:solidFill>
            <a:srgbClr val="9B6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088" y="257860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04088" y="313639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55848" y="2487168"/>
            <a:ext cx="2423160" cy="1261872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55848" y="2487168"/>
            <a:ext cx="2423160" cy="5486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01568" y="257860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401568" y="313639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2487168"/>
            <a:ext cx="2423160" cy="1261872"/>
          </a:xfrm>
          <a:prstGeom prst="rect">
            <a:avLst/>
          </a:prstGeom>
          <a:solidFill>
            <a:srgbClr val="131929"/>
          </a:solidFill>
          <a:ln w="12700">
            <a:solidFill>
              <a:srgbClr val="1E3A5F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53328" y="2487168"/>
            <a:ext cx="2423160" cy="54864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99048" y="257860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099048" y="313639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Infra</a:t>
            </a:r>
            <a:endParaRPr lang="en-US" sz="105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886200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54480" y="3886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paying agencies in Year 1</a:t>
            </a:r>
            <a:endParaRPr lang="en-US" sz="10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3886200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950208" y="3886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$2.4M ARR at target conversion</a:t>
            </a:r>
            <a:endParaRPr lang="en-US" sz="10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16" y="3886200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345936" y="3886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ready at 18 months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13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0" y="4462272"/>
            <a:ext cx="9144000" cy="27432"/>
          </a:xfrm>
          <a:prstGeom prst="rect">
            <a:avLst/>
          </a:prstGeom>
          <a:solidFill>
            <a:srgbClr val="9B6D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365760" y="45720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  ·  moeabuadas@googlemail.com  ·  Mission Control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1156</Words>
  <Application>Microsoft Macintosh PowerPoint</Application>
  <PresentationFormat>On-screen Show (16:9)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Mission Control — Investor Pitch Deck</dc:title>
  <dc:subject>PptxGenJS Presentation</dc:subject>
  <dc:creator>PptxGenJS</dc:creator>
  <cp:lastModifiedBy>Mohammed Abu Adas Blanco</cp:lastModifiedBy>
  <cp:revision>1</cp:revision>
  <dcterms:created xsi:type="dcterms:W3CDTF">2026-05-13T14:35:59Z</dcterms:created>
  <dcterms:modified xsi:type="dcterms:W3CDTF">2026-05-13T15:44:28Z</dcterms:modified>
</cp:coreProperties>
</file>